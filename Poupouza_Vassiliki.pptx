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embeddedFontLst>
    <p:embeddedFont>
      <p:font typeface="Lato" panose="020F0502020204030203" pitchFamily="34" charset="0"/>
      <p:regular r:id="rId26"/>
      <p:bold r:id="rId27"/>
      <p:italic r:id="rId28"/>
      <p:boldItalic r:id="rId29"/>
    </p:embeddedFont>
    <p:embeddedFont>
      <p:font typeface="Lora" pitchFamily="2" charset="0"/>
      <p:regular r:id="rId30"/>
      <p:bold r:id="rId31"/>
      <p:italic r:id="rId32"/>
      <p:boldItalic r:id="rId33"/>
    </p:embeddedFont>
    <p:embeddedFont>
      <p:font typeface="Playfair Display" panose="00000500000000000000" pitchFamily="2" charset="0"/>
      <p:regular r:id="rId34"/>
      <p:bold r:id="rId35"/>
      <p:italic r:id="rId36"/>
      <p:boldItalic r:id="rId37"/>
    </p:embeddedFont>
    <p:embeddedFont>
      <p:font typeface="Poppins" panose="00000500000000000000" pitchFamily="2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1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ee5e60ec48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g3ee5e60ec48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ee5e60ec48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g3ee5e60ec48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ee7f5d1fd8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g3ee7f5d1fd8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ee5e60ec48_0_5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g3ee5e60ec48_0_5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ee2cb0f663_5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g3ee2cb0f663_5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ee2cb0f663_5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g3ee2cb0f663_5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ee5e60ec48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g3ee5e60ec48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ee2cb0f663_5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g3ee2cb0f663_5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3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.png"/><Relationship Id="rId4" Type="http://schemas.openxmlformats.org/officeDocument/2006/relationships/image" Target="../media/image21.png"/><Relationship Id="rId9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30.png"/><Relationship Id="rId5" Type="http://schemas.openxmlformats.org/officeDocument/2006/relationships/image" Target="../media/image13.png"/><Relationship Id="rId10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31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2.png"/><Relationship Id="rId4" Type="http://schemas.openxmlformats.org/officeDocument/2006/relationships/image" Target="../media/image8.png"/><Relationship Id="rId9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3.png"/><Relationship Id="rId10" Type="http://schemas.openxmlformats.org/officeDocument/2006/relationships/image" Target="../media/image41.png"/><Relationship Id="rId4" Type="http://schemas.openxmlformats.org/officeDocument/2006/relationships/image" Target="../media/image2.png"/><Relationship Id="rId9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7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45.png"/><Relationship Id="rId4" Type="http://schemas.openxmlformats.org/officeDocument/2006/relationships/image" Target="../media/image2.png"/><Relationship Id="rId9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49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2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84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924698"/>
            <a:ext cx="11049000" cy="64755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604501" y="1674614"/>
            <a:ext cx="89829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 dirty="0" err="1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Δημιουργί</a:t>
            </a:r>
            <a:r>
              <a:rPr lang="en-US" sz="4875" b="1" i="0" u="none" strike="noStrike" cap="none" dirty="0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α Ιστότοπου</a:t>
            </a:r>
            <a:r>
              <a:rPr lang="en-US" sz="4875" b="1" i="0" u="none" strike="noStrike" cap="none" dirty="0">
                <a:solidFill>
                  <a:srgbClr val="2B2622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4875" b="1" i="0" u="none" strike="noStrike" cap="none" dirty="0">
                <a:solidFill>
                  <a:srgbClr val="D12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Pyxis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818375" y="2703317"/>
            <a:ext cx="8769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Εναλλακτικές &amp; Διαδραστικές Δραστηριότητες με Εφαρμογές ΑΙ</a:t>
            </a:r>
            <a:endParaRPr sz="1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818382" y="3606254"/>
            <a:ext cx="8555100" cy="11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1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Πούπουζα Βασιλική</a:t>
            </a:r>
            <a:br>
              <a:rPr lang="en-US" sz="2000" b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50" b="1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Επιβλέπων: Σιούτας Σπυρίδων, Καθηγητής</a:t>
            </a:r>
            <a:br>
              <a:rPr lang="en-US" sz="2000" b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50" b="1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Πανεπιστήμιο Πατρών | Μηχανικών Η/Υ &amp; Πληροφορικής</a:t>
            </a:r>
            <a:endParaRPr sz="1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8761065" y="6077098"/>
            <a:ext cx="2859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Τμήμα Μηχανικών Η/Υ &amp; Πληροφορικής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8761065" y="6358979"/>
            <a:ext cx="28593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0" u="none" strike="noStrike" cap="none">
                <a:solidFill>
                  <a:srgbClr val="C28F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Διπλωματική Εργασία - 2026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" name="Google Shape;91;p13" title="Στιγμιότυπο οθόνης 2026-06-22 010232.png"/>
          <p:cNvPicPr preferRelativeResize="0"/>
          <p:nvPr/>
        </p:nvPicPr>
        <p:blipFill rotWithShape="1">
          <a:blip r:embed="rId5">
            <a:alphaModFix/>
          </a:blip>
          <a:srcRect l="5261" r="5261"/>
          <a:stretch/>
        </p:blipFill>
        <p:spPr>
          <a:xfrm>
            <a:off x="11144250" y="301886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9250" y="6105450"/>
            <a:ext cx="1913648" cy="64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680918"/>
            <a:ext cx="4953000" cy="89133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571500"/>
            <a:ext cx="505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Το Πρόβλημα &amp; Το Κίνητρο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642900" y="1406350"/>
            <a:ext cx="4810200" cy="38100"/>
          </a:xfrm>
          <a:prstGeom prst="rect">
            <a:avLst/>
          </a:prstGeom>
          <a:solidFill>
            <a:srgbClr val="C28F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8858865" y="6227026"/>
            <a:ext cx="3047385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2B2622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Τμήμ</a:t>
            </a:r>
            <a:r>
              <a:rPr lang="en-US" sz="1200" b="1" i="0" u="none" strike="noStrike" cap="none" dirty="0">
                <a:solidFill>
                  <a:srgbClr val="2B2622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α Μηχανικών Η/Υ &amp; Πληροφορικής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9232106" y="6483942"/>
            <a:ext cx="2674200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C28F27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Δι</a:t>
            </a:r>
            <a:r>
              <a:rPr lang="en-US" sz="1050" b="0" i="0" u="none" strike="noStrike" cap="none" dirty="0">
                <a:solidFill>
                  <a:srgbClr val="C28F27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πλωματική Εργασία - 2026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571500" y="1855838"/>
            <a:ext cx="48102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Στη σύγχρονη εποχή, η </a:t>
            </a:r>
            <a:r>
              <a:rPr lang="en-US" sz="1500" b="1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υπερφόρτωση πληροφοριών</a:t>
            </a:r>
            <a:r>
              <a:rPr lang="en-US" sz="1500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(information overload) καθιστά δύσκολη την εύρεση της κατάλληλης ψυχαγωγίας.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571500" y="3290138"/>
            <a:ext cx="48102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Παράλληλα, η λήψη </a:t>
            </a:r>
            <a:r>
              <a:rPr lang="en-US" sz="1500" b="1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ομαδικών αποφάσεων</a:t>
            </a:r>
            <a:r>
              <a:rPr lang="en-US" sz="1500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μέσω παραδοσιακών μηνυμάτων είναι χρονοβόρα, οδηγώντας συχνά σε αδιέξοδο και δυσαρέσκεια των μελών.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4869413"/>
            <a:ext cx="48102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Η λύση; Ένα δομημένο ψηφιακό εργαλείο που αυτοματοποιεί την επίτευξη ομαδικής συναίνεσης.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6" name="Google Shape;106;p14" title="Στιγμιότυπο οθόνης 2026-06-22 010232.png"/>
          <p:cNvPicPr preferRelativeResize="0"/>
          <p:nvPr/>
        </p:nvPicPr>
        <p:blipFill rotWithShape="1">
          <a:blip r:embed="rId5">
            <a:alphaModFix/>
          </a:blip>
          <a:srcRect l="5261" r="5261"/>
          <a:stretch/>
        </p:blipFill>
        <p:spPr>
          <a:xfrm>
            <a:off x="11144250" y="301886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9250" y="6105450"/>
            <a:ext cx="1913648" cy="64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62613" y="1547813"/>
            <a:ext cx="6143625" cy="3762375"/>
          </a:xfrm>
          <a:prstGeom prst="rect">
            <a:avLst/>
          </a:prstGeom>
          <a:noFill/>
          <a:ln w="19050" cap="flat" cmpd="sng">
            <a:solidFill>
              <a:srgbClr val="C28F27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52786"/>
            <a:ext cx="3492549" cy="3457128"/>
          </a:xfrm>
          <a:prstGeom prst="rect">
            <a:avLst/>
          </a:prstGeom>
          <a:noFill/>
          <a:ln w="19050" cap="flat" cmpd="sng">
            <a:solidFill>
              <a:srgbClr val="C28F27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052786"/>
            <a:ext cx="3492549" cy="3457128"/>
          </a:xfrm>
          <a:prstGeom prst="rect">
            <a:avLst/>
          </a:prstGeom>
          <a:noFill/>
          <a:ln w="19050" cap="flat" cmpd="sng">
            <a:solidFill>
              <a:srgbClr val="C28F27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052786"/>
            <a:ext cx="3492549" cy="3457128"/>
          </a:xfrm>
          <a:prstGeom prst="rect">
            <a:avLst/>
          </a:prstGeom>
          <a:noFill/>
          <a:ln w="19050" cap="flat" cmpd="sng">
            <a:solidFill>
              <a:srgbClr val="C28F27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924698"/>
            <a:ext cx="11049000" cy="647551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8604140" y="6077098"/>
            <a:ext cx="3016359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2B2622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Τμήμ</a:t>
            </a:r>
            <a:r>
              <a:rPr lang="en-US" sz="1200" b="1" i="0" u="none" strike="noStrike" cap="none" dirty="0">
                <a:solidFill>
                  <a:srgbClr val="2B2622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α Μηχανικών Η/Υ &amp; Πληροφορικής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8761065" y="6358979"/>
            <a:ext cx="2859434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C28F27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Δι</a:t>
            </a:r>
            <a:r>
              <a:rPr lang="en-US" sz="1050" b="0" i="0" u="none" strike="noStrike" cap="none" dirty="0">
                <a:solidFill>
                  <a:srgbClr val="C28F27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πλωματική Εργασία - 2026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1168650" y="3081486"/>
            <a:ext cx="2298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Ομαδικά Lobbies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866775" y="3624411"/>
            <a:ext cx="2901900" cy="16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Δημιουργία ασφαλών, ψηφιακών δωματίων (private &amp; public) με υποστήριξη Live Chat, επιτρέποντας την οργάνωση παρέας σε πραγματικό χρόνο.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5011485" y="3081486"/>
            <a:ext cx="2169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Παιχνιδοποίηση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45074" y="3624411"/>
            <a:ext cx="2901900" cy="16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Μετασχηματισμός της δύσκολης διαδικασίας ψηφοφορίας σε μια διασκεδαστική εμπειρία μέσα από έναν πολυτροπικό μηχανισμό Swiping καρτών.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8604140" y="3081486"/>
            <a:ext cx="2540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Context-Aware AI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8423374" y="3624411"/>
            <a:ext cx="2901900" cy="16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Αξιοποίηση της Τεχνητής Νοημοσύνης (LLaMA 3.3) για την παραγωγή έξυπνων προτάσεων που λαμβάνουν υπόψη ζωντανά δεδομένα καιρού και προτιμήσεων.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6" name="Google Shape;12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31950" y="2395686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38825" y="2395686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45699" y="239568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Αντικείμενο &amp; Στόχοι του Pyxis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571500" y="1238250"/>
            <a:ext cx="11049000" cy="38100"/>
          </a:xfrm>
          <a:prstGeom prst="rect">
            <a:avLst/>
          </a:prstGeom>
          <a:solidFill>
            <a:srgbClr val="C28F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15" title="Στιγμιότυπο οθόνης 2026-06-22 010232.png"/>
          <p:cNvPicPr preferRelativeResize="0"/>
          <p:nvPr/>
        </p:nvPicPr>
        <p:blipFill rotWithShape="1">
          <a:blip r:embed="rId11">
            <a:alphaModFix/>
          </a:blip>
          <a:srcRect l="5261" r="5261"/>
          <a:stretch/>
        </p:blipFill>
        <p:spPr>
          <a:xfrm>
            <a:off x="11144250" y="301886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99250" y="6105450"/>
            <a:ext cx="1913648" cy="64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924698"/>
            <a:ext cx="11049000" cy="64755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8761065" y="6077098"/>
            <a:ext cx="2859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Τμήμ</a:t>
            </a:r>
            <a:r>
              <a:rPr lang="en-US" sz="1200" b="1" i="0" u="none" strike="noStrike" cap="none" dirty="0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α Μηχανικών Η/Υ &amp; Πληροφορικής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8761065" y="6358979"/>
            <a:ext cx="28593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0" u="none" strike="noStrike" cap="none" dirty="0" err="1">
                <a:solidFill>
                  <a:srgbClr val="C28F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Δι</a:t>
            </a:r>
            <a:r>
              <a:rPr lang="en-US" sz="1050" i="0" u="none" strike="noStrike" cap="none" dirty="0">
                <a:solidFill>
                  <a:srgbClr val="C28F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πλωματική Εργασία - 2026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571500" y="2638276"/>
            <a:ext cx="5286375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0" b="1" i="0" u="none" strike="noStrike" cap="none">
                <a:solidFill>
                  <a:srgbClr val="C28F27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571500" y="4543276"/>
            <a:ext cx="5286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Τεχνολογικοί Πυλώνες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6334125" y="2115740"/>
            <a:ext cx="5550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D12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Οργανική Ενοποίηση Τεχνολογιών</a:t>
            </a:r>
            <a:endParaRPr sz="1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6334125" y="2706290"/>
            <a:ext cx="5286300" cy="10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5" b="1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Σε αντίθεση με τις υπάρχουσες πλατφόρμες, το Pyxis εισάγει μια νέα, υβριδική κατηγορία ψηφιακού εργαλείου συνδυάζοντας αρμονικά:</a:t>
            </a:r>
            <a:endParaRPr sz="1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6619875" y="3860452"/>
            <a:ext cx="50007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5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Συστήματα Συστάσεων</a:t>
            </a:r>
            <a:r>
              <a:rPr lang="en-US" sz="1625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(Heuristic Local Scoring)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6619875" y="4245173"/>
            <a:ext cx="50007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5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Παιχνιδοποίηση</a:t>
            </a:r>
            <a:r>
              <a:rPr lang="en-US" sz="1625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(Gamification &amp; Swiping)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6619875" y="4629894"/>
            <a:ext cx="50007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5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Συγχρονισμός Real-Time</a:t>
            </a:r>
            <a:r>
              <a:rPr lang="en-US" sz="1625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(WebSockets)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6619875" y="5014614"/>
            <a:ext cx="50007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5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Επεξεργασία Φυσικής Γλώσσας</a:t>
            </a:r>
            <a:r>
              <a:rPr lang="en-US" sz="1625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(Generative AI)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Η Καινοτομία του Συστήματος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571500" y="1238250"/>
            <a:ext cx="11049000" cy="38100"/>
          </a:xfrm>
          <a:prstGeom prst="rect">
            <a:avLst/>
          </a:prstGeom>
          <a:solidFill>
            <a:srgbClr val="C28F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879502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264223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648944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5033664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9250" y="6105450"/>
            <a:ext cx="1913648" cy="64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title="Στιγμιότυπο οθόνης 2026-06-22 010232.png"/>
          <p:cNvPicPr preferRelativeResize="0"/>
          <p:nvPr/>
        </p:nvPicPr>
        <p:blipFill rotWithShape="1">
          <a:blip r:embed="rId7">
            <a:alphaModFix/>
          </a:blip>
          <a:srcRect l="5261" r="5261"/>
          <a:stretch/>
        </p:blipFill>
        <p:spPr>
          <a:xfrm>
            <a:off x="11144250" y="301886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08125"/>
            <a:ext cx="5286375" cy="3746599"/>
          </a:xfrm>
          <a:prstGeom prst="rect">
            <a:avLst/>
          </a:prstGeom>
          <a:noFill/>
          <a:ln w="19050" cap="flat" cmpd="sng">
            <a:solidFill>
              <a:srgbClr val="C28F27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3" name="Google Shape;16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908125"/>
            <a:ext cx="5286375" cy="3746599"/>
          </a:xfrm>
          <a:prstGeom prst="rect">
            <a:avLst/>
          </a:prstGeom>
          <a:noFill/>
          <a:ln w="19050" cap="flat" cmpd="sng">
            <a:solidFill>
              <a:srgbClr val="C28F27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4" name="Google Shape;16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924698"/>
            <a:ext cx="11049000" cy="64755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8761065" y="6077098"/>
            <a:ext cx="2859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Τμήμ</a:t>
            </a:r>
            <a:r>
              <a:rPr lang="en-US" sz="1200" b="1" i="0" u="none" strike="noStrike" cap="none" dirty="0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α Μηχανικών Η/Υ &amp; Πληροφορικής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8761065" y="6358979"/>
            <a:ext cx="28593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0" u="none" strike="noStrike" cap="none" dirty="0" err="1">
                <a:solidFill>
                  <a:srgbClr val="C28F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Δι</a:t>
            </a:r>
            <a:r>
              <a:rPr lang="en-US" sz="1050" i="0" u="none" strike="noStrike" cap="none" dirty="0">
                <a:solidFill>
                  <a:srgbClr val="C28F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πλωματική Εργασία - 2026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849391" y="2298650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12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 (Επίπεδο Παρουσίασης)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962025" y="2841575"/>
            <a:ext cx="4505400" cy="9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Η διεπαφή χρήστη αναπτύχθηκε με React.js. Ενσωματώνει διαδραστικούς χάρτες (Leaflet), γραφήματα (Recharts) και χειρισμό Swipe μέσω Native JavaScript.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962025" y="4142333"/>
            <a:ext cx="4505400" cy="9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Εφαρμόζεται Edge Computing με έναν τοπικό ευρετικό αλγόριθμο βαθμολόγησης (Heuristic Scoring) για μείωση της υστέρησης.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6612016" y="2298650"/>
            <a:ext cx="4730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12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 &amp; Δεδομένα (Επίπεδο Εφαρμογής)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6724650" y="3241625"/>
            <a:ext cx="4505400" cy="9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Η επιχειρηματική λογική υλοποιήθηκε σε Node.js με Express.js, αξιοποιώντας την MySQL για αυστηρή σχεσιακή ακεραιότητα (ACID properties).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6724650" y="4252912"/>
            <a:ext cx="4505400" cy="9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Η αμφίδρομη επικοινωνία σε πραγματικό χρόνο, ζωτικής σημασίας για τα Lobbies, επιτυγχάνεται μέσω του πρωτοκόλλου Socket.IO.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Αρχιτεκτονική Συστήματος (Client-Server)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571500" y="1238250"/>
            <a:ext cx="11049000" cy="38100"/>
          </a:xfrm>
          <a:prstGeom prst="rect">
            <a:avLst/>
          </a:prstGeom>
          <a:solidFill>
            <a:srgbClr val="C28F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17" title="Στιγμιότυπο οθόνης 2026-06-22 010232.png"/>
          <p:cNvPicPr preferRelativeResize="0"/>
          <p:nvPr/>
        </p:nvPicPr>
        <p:blipFill rotWithShape="1">
          <a:blip r:embed="rId7">
            <a:alphaModFix/>
          </a:blip>
          <a:srcRect l="5261" r="5261"/>
          <a:stretch/>
        </p:blipFill>
        <p:spPr>
          <a:xfrm>
            <a:off x="11144250" y="301886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9250" y="6105450"/>
            <a:ext cx="1913648" cy="64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7780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924698"/>
            <a:ext cx="11049000" cy="64755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8761065" y="6077098"/>
            <a:ext cx="2859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Τμήμα Μηχανικών Η/Υ &amp; Πληροφορικής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8761065" y="6358979"/>
            <a:ext cx="28593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0" u="none" strike="noStrike" cap="none">
                <a:solidFill>
                  <a:srgbClr val="C28F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Διπλωματική Εργασία - 2026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768350" y="1901938"/>
            <a:ext cx="10511700" cy="6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5" b="1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LLaMA 3.3 μέσω Groq API:</a:t>
            </a:r>
            <a:r>
              <a:rPr lang="en-US" sz="1625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Επιλέχθηκε για την ασυναγώνιστη ταχύτητα παραγωγής λέξεων, κρίσιμη για τη ροή του συστήματος.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768350" y="2714412"/>
            <a:ext cx="10511700" cy="6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5" b="1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Επίγνωση Πλαισίου (Context-Awareness):</a:t>
            </a:r>
            <a:r>
              <a:rPr lang="en-US" sz="1625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Το AI αναλύει ζωντανά τον καιρό και περιορίζει τις προτάσεις (π.χ. indoor activities όταν βρέχει).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768350" y="3680450"/>
            <a:ext cx="10511700" cy="6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5" b="1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Structured JSON Output:</a:t>
            </a:r>
            <a:r>
              <a:rPr lang="en-US" sz="1625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Το System Prompt επιβάλλει στο μοντέλο να απαντά αποκλειστικά με δομημένο JSON προς αποφυγή σφαλμάτων (parsing errors).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768350" y="4802580"/>
            <a:ext cx="10375800" cy="6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5" b="1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Pre-filtering (Προ-φιλτράρισμα):</a:t>
            </a:r>
            <a:r>
              <a:rPr lang="en-US" sz="1625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Αλγόριθμος που καθαρίζει τα δεδομένα στη βάση πριν τα στείλει στο AI, ελαχιστοποιώντας το κόστος.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Ενσωμάτωση AI &amp; Μηχανική Υποδείξεων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571500" y="1238250"/>
            <a:ext cx="11049000" cy="38100"/>
          </a:xfrm>
          <a:prstGeom prst="rect">
            <a:avLst/>
          </a:prstGeom>
          <a:solidFill>
            <a:srgbClr val="C28F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194305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2714412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370790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4816312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 title="Στιγμιότυπο οθόνης 2026-06-22 010232.png"/>
          <p:cNvPicPr preferRelativeResize="0"/>
          <p:nvPr/>
        </p:nvPicPr>
        <p:blipFill rotWithShape="1">
          <a:blip r:embed="rId6">
            <a:alphaModFix/>
          </a:blip>
          <a:srcRect l="5261" r="5261"/>
          <a:stretch/>
        </p:blipFill>
        <p:spPr>
          <a:xfrm>
            <a:off x="11144250" y="301886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9250" y="6105450"/>
            <a:ext cx="1913648" cy="64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924698"/>
            <a:ext cx="11049000" cy="64755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8761065" y="6077098"/>
            <a:ext cx="2859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Τμήμα Μηχανικών Η/Υ &amp; Πληροφορικής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8761065" y="6358979"/>
            <a:ext cx="28593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0" u="none" strike="noStrike" cap="none">
                <a:solidFill>
                  <a:srgbClr val="C28F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Διπλωματική Εργασία - 2026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1809750" y="2147292"/>
            <a:ext cx="90489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Μείωση Γνωσιακού Φόρτου:</a:t>
            </a:r>
            <a:r>
              <a:rPr lang="en-US" sz="1425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Ο μηχανισμός Swiping αποφεύγει τις μεγάλες λίστες. Ο χρήστης καλείται να λάβει μια απλή δυαδική απόφαση (Ναι/Όχι) για ένα αντικείμενο τη φορά.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1809750" y="2964358"/>
            <a:ext cx="90489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Πολυτροπικός Χειρισμός:</a:t>
            </a:r>
            <a:r>
              <a:rPr lang="en-US" sz="1425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Η διεπαφή υποστηρίζει custom Touch &amp; Drag events για κινητά, Double-Tap για γρήγορη θετική ψήφο, και Arrow Keys σε desktop.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1809750" y="3781425"/>
            <a:ext cx="90489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Αλγοριθμική Επίτευξη Ομοφωνίας:</a:t>
            </a:r>
            <a:r>
              <a:rPr lang="en-US" sz="1425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Το σύστημα παρακολουθεί τις ψήφους. Μόλις μια δραστηριότητα συγκεντρώσει 100% θετικές ψήφους, η διαδικασία ολοκληρώνεται ακαριαία.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1809750" y="4598491"/>
            <a:ext cx="90489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Surprise Dice:</a:t>
            </a:r>
            <a:r>
              <a:rPr lang="en-US" sz="1425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Μηχανισμός τυχαίας επιλογής που αντιμετωπίζει άμεσα την αναποφασιστικότητα, ενισχύοντας τα στοιχεία παιχνιδιού.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" name="Google Shape;20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2161579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3500" y="2978646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33500" y="3795712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33500" y="4612778"/>
            <a:ext cx="33337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9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Παιχνιδοποίηση &amp; Λήψη Απόφασης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571500" y="1238250"/>
            <a:ext cx="11049000" cy="38100"/>
          </a:xfrm>
          <a:prstGeom prst="rect">
            <a:avLst/>
          </a:prstGeom>
          <a:solidFill>
            <a:srgbClr val="C28F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19" title="Στιγμιότυπο οθόνης 2026-06-22 010232.png"/>
          <p:cNvPicPr preferRelativeResize="0"/>
          <p:nvPr/>
        </p:nvPicPr>
        <p:blipFill rotWithShape="1">
          <a:blip r:embed="rId9">
            <a:alphaModFix/>
          </a:blip>
          <a:srcRect l="5261" r="5261"/>
          <a:stretch/>
        </p:blipFill>
        <p:spPr>
          <a:xfrm>
            <a:off x="11144250" y="301886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99250" y="6105450"/>
            <a:ext cx="1913648" cy="64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924698"/>
            <a:ext cx="11049000" cy="647551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0"/>
          <p:cNvSpPr/>
          <p:nvPr/>
        </p:nvSpPr>
        <p:spPr>
          <a:xfrm>
            <a:off x="571500" y="3905250"/>
            <a:ext cx="11049000" cy="38100"/>
          </a:xfrm>
          <a:prstGeom prst="rect">
            <a:avLst/>
          </a:prstGeom>
          <a:solidFill>
            <a:srgbClr val="EFE9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8761065" y="6077098"/>
            <a:ext cx="2859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Τμήμα Μηχανικών Η/Υ &amp; Πληροφορικής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8761065" y="6358979"/>
            <a:ext cx="28593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0" u="none" strike="noStrike" cap="none">
                <a:solidFill>
                  <a:srgbClr val="C28F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Διπλωματική Εργασία - 2026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507968" y="4257675"/>
            <a:ext cx="2668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12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Ένταξη σε Lobby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571500" y="4733925"/>
            <a:ext cx="2541300" cy="7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Δημιουργία δωματίου (PIN Access) ή εύρεση δημόσιας παρέας μέσω του Lobby Radar.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3343888" y="2252067"/>
            <a:ext cx="2668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12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AI &amp; Διαβούλευση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3407419" y="2728317"/>
            <a:ext cx="2541240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E544B"/>
                </a:solidFill>
                <a:latin typeface="Lato"/>
                <a:ea typeface="Lato"/>
                <a:cs typeface="Lato"/>
                <a:sym typeface="Lato"/>
              </a:rPr>
              <a:t>Ζωντανή συνομιλία στο Live Chat και αίτημα προτάσεων από τον έξυπνο βοηθό LLaMA 3.3.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6179808" y="4257675"/>
            <a:ext cx="2668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12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Αξιολόγηση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6243339" y="4733925"/>
            <a:ext cx="2541300" cy="7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Εκκίνηση της φάσης Swiping. Κάθε μέλος αξιολογεί τις κάρτες ανεξάρτητα, με live συγχρονισμό.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9015728" y="2012156"/>
            <a:ext cx="2668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12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Επίτευξη Match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9079259" y="2488406"/>
            <a:ext cx="2541240" cy="959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E544B"/>
                </a:solidFill>
                <a:latin typeface="Lato"/>
                <a:ea typeface="Lato"/>
                <a:cs typeface="Lato"/>
                <a:sym typeface="Lato"/>
              </a:rPr>
              <a:t>Αλγοριθμική ταυτοποίηση ομοφωνίας. Άμεση προβολή της τελικής επιλογής σε όλες τις συσκευές.</a:t>
            </a:r>
            <a:endParaRPr/>
          </a:p>
        </p:txBody>
      </p:sp>
      <p:sp>
        <p:nvSpPr>
          <p:cNvPr id="234" name="Google Shape;234;p20"/>
          <p:cNvSpPr/>
          <p:nvPr/>
        </p:nvSpPr>
        <p:spPr>
          <a:xfrm>
            <a:off x="1727820" y="38100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C28F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4563740" y="38100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C28F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7399659" y="38100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C28F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10235579" y="38100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C28F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Δυναμική Ροή Ομαδικής Συνεδρίας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571500" y="1238250"/>
            <a:ext cx="11049000" cy="38100"/>
          </a:xfrm>
          <a:prstGeom prst="rect">
            <a:avLst/>
          </a:prstGeom>
          <a:solidFill>
            <a:srgbClr val="C28F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" name="Google Shape;240;p20" title="Στιγμιότυπο οθόνης 2026-06-22 010232.png"/>
          <p:cNvPicPr preferRelativeResize="0"/>
          <p:nvPr/>
        </p:nvPicPr>
        <p:blipFill rotWithShape="1">
          <a:blip r:embed="rId5">
            <a:alphaModFix/>
          </a:blip>
          <a:srcRect l="5261" r="5261"/>
          <a:stretch/>
        </p:blipFill>
        <p:spPr>
          <a:xfrm>
            <a:off x="11144250" y="301886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9250" y="6105450"/>
            <a:ext cx="1913648" cy="64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924698"/>
            <a:ext cx="11049000" cy="647551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1"/>
          <p:cNvSpPr/>
          <p:nvPr/>
        </p:nvSpPr>
        <p:spPr>
          <a:xfrm>
            <a:off x="5524500" y="1796504"/>
            <a:ext cx="1143000" cy="57150"/>
          </a:xfrm>
          <a:prstGeom prst="rect">
            <a:avLst/>
          </a:prstGeom>
          <a:solidFill>
            <a:srgbClr val="C28F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295275" y="2139404"/>
            <a:ext cx="116016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Παρουσίαση Εφαρμογής &amp; Διεπαφή Χρήστη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2286000" y="4234904"/>
            <a:ext cx="76200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Αναλυτική περιγραφή των βασικών λειτουργιών, του σχεδιασμού UX/UI και των διαδραστικών χαρακτηριστικών του συστήματος </a:t>
            </a:r>
            <a:r>
              <a:rPr lang="en-US" sz="1800" b="1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Pyxis</a:t>
            </a:r>
            <a:r>
              <a:rPr lang="en-US" sz="1800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8761065" y="6077098"/>
            <a:ext cx="2859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Τμήμα Μηχανικών Η/Υ &amp; Πληροφορικής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8761065" y="6358979"/>
            <a:ext cx="28593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0" u="none" strike="noStrike" cap="none">
                <a:solidFill>
                  <a:srgbClr val="C28F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Διπλωματική Εργασία - 2026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3" name="Google Shape;253;p21" title="Στιγμιότυπο οθόνης 2026-06-22 010232.png"/>
          <p:cNvPicPr preferRelativeResize="0"/>
          <p:nvPr/>
        </p:nvPicPr>
        <p:blipFill rotWithShape="1">
          <a:blip r:embed="rId5">
            <a:alphaModFix/>
          </a:blip>
          <a:srcRect l="5261" r="5261"/>
          <a:stretch/>
        </p:blipFill>
        <p:spPr>
          <a:xfrm>
            <a:off x="11144250" y="301886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9250" y="6105450"/>
            <a:ext cx="1913648" cy="64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365" y="5932189"/>
            <a:ext cx="11049000" cy="647551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2"/>
          <p:cNvSpPr txBox="1"/>
          <p:nvPr/>
        </p:nvSpPr>
        <p:spPr>
          <a:xfrm>
            <a:off x="8761065" y="6077098"/>
            <a:ext cx="2859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Τμήμα Μηχανικών Η/Υ &amp; Πληροφορικής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8761065" y="6358979"/>
            <a:ext cx="28593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0" u="none" strike="noStrike" cap="none">
                <a:solidFill>
                  <a:srgbClr val="C28F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Διπλωματική Εργασία - 2026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22"/>
          <p:cNvSpPr txBox="1"/>
          <p:nvPr/>
        </p:nvSpPr>
        <p:spPr>
          <a:xfrm>
            <a:off x="857250" y="1669950"/>
            <a:ext cx="5000700" cy="13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75" b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Ασφάλεια (JWT):</a:t>
            </a:r>
            <a:r>
              <a:rPr lang="en-US" sz="1575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Υλοποίηση ασφαλούς ελέγχου ταυτότητας μέσω JSON Web Tokens και κρυπτογράφησης κωδικών, διασφαλίζοντας τα δεδομένα των χρηστών.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25" b="1">
              <a:solidFill>
                <a:srgbClr val="5E54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p22"/>
          <p:cNvSpPr txBox="1"/>
          <p:nvPr/>
        </p:nvSpPr>
        <p:spPr>
          <a:xfrm>
            <a:off x="857250" y="2909037"/>
            <a:ext cx="5000700" cy="13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75" b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Εξατομικευμένο Onboarding:</a:t>
            </a:r>
            <a:r>
              <a:rPr lang="en-US" sz="1575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Κατά τη διαδικασία εγγραφής, το σύστημα συλλέγει τις βασικές προτιμήσεις του χρήστη για να δημιουργήσει άμεσα το προφίλ του.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25" b="1">
              <a:solidFill>
                <a:srgbClr val="5E54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p22"/>
          <p:cNvSpPr txBox="1"/>
          <p:nvPr/>
        </p:nvSpPr>
        <p:spPr>
          <a:xfrm>
            <a:off x="571500" y="571500"/>
            <a:ext cx="11601600" cy="9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450" b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Αυθεντικοποίηση &amp; Προσωποποιημένο Onboarding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solidFill>
                <a:srgbClr val="2B26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571500" y="1238250"/>
            <a:ext cx="11049000" cy="38100"/>
          </a:xfrm>
          <a:prstGeom prst="rect">
            <a:avLst/>
          </a:prstGeom>
          <a:solidFill>
            <a:srgbClr val="C28F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81927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02012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2" title="Στιγμιότυπο οθόνης 2026-06-22 010232.png"/>
          <p:cNvPicPr preferRelativeResize="0"/>
          <p:nvPr/>
        </p:nvPicPr>
        <p:blipFill rotWithShape="1">
          <a:blip r:embed="rId6">
            <a:alphaModFix/>
          </a:blip>
          <a:srcRect l="5261" r="5261"/>
          <a:stretch/>
        </p:blipFill>
        <p:spPr>
          <a:xfrm>
            <a:off x="11144250" y="301886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9250" y="6105450"/>
            <a:ext cx="1913648" cy="64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48476" y="1402013"/>
            <a:ext cx="3508452" cy="4397025"/>
          </a:xfrm>
          <a:prstGeom prst="rect">
            <a:avLst/>
          </a:prstGeom>
          <a:noFill/>
          <a:ln w="19050" cap="flat" cmpd="sng">
            <a:solidFill>
              <a:srgbClr val="C28F27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716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924698"/>
            <a:ext cx="11049000" cy="647551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3"/>
          <p:cNvSpPr txBox="1"/>
          <p:nvPr/>
        </p:nvSpPr>
        <p:spPr>
          <a:xfrm>
            <a:off x="8761065" y="6077098"/>
            <a:ext cx="2859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Τμήμα Μηχανικών Η/Υ &amp; Πληροφορικής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23"/>
          <p:cNvSpPr txBox="1"/>
          <p:nvPr/>
        </p:nvSpPr>
        <p:spPr>
          <a:xfrm>
            <a:off x="8761065" y="6358979"/>
            <a:ext cx="28593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0" u="none" strike="noStrike" cap="none">
                <a:solidFill>
                  <a:srgbClr val="C28F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Διπλωματική Εργασία - 2026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p23"/>
          <p:cNvSpPr txBox="1"/>
          <p:nvPr/>
        </p:nvSpPr>
        <p:spPr>
          <a:xfrm>
            <a:off x="857250" y="1971675"/>
            <a:ext cx="5000700" cy="9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Πολυκριτηριακή Αναζήτηση:</a:t>
            </a:r>
            <a:r>
              <a:rPr lang="en-US" sz="1425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Εύρεση δραστηριοτήτων βάσει κατηγορίας, τοποθεσίας, και κόστους μέσω ενός δυναμικού πλέγματος (grid layout).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23"/>
          <p:cNvSpPr txBox="1"/>
          <p:nvPr/>
        </p:nvSpPr>
        <p:spPr>
          <a:xfrm>
            <a:off x="857250" y="2982962"/>
            <a:ext cx="5000700" cy="9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Διαδραστικοί Χάρτες (Leaflet):</a:t>
            </a:r>
            <a:r>
              <a:rPr lang="en-US" sz="1425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Οπτικοποίηση των σημείων ενδιαφέροντος στον χάρτη με προηγμένη διαχείριση συντεταγμένων.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" name="Google Shape;285;p23"/>
          <p:cNvSpPr txBox="1"/>
          <p:nvPr/>
        </p:nvSpPr>
        <p:spPr>
          <a:xfrm>
            <a:off x="857250" y="3994249"/>
            <a:ext cx="50007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Αυτόματη Εστίαση (Auto-zoom):</a:t>
            </a:r>
            <a:r>
              <a:rPr lang="en-US" sz="1425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Υπολογισμός του Bounding Box ώστε όλα τα σημεία να είναι αυτόματα ορατά.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23"/>
          <p:cNvSpPr txBox="1"/>
          <p:nvPr/>
        </p:nvSpPr>
        <p:spPr>
          <a:xfrm>
            <a:off x="857250" y="4716065"/>
            <a:ext cx="50007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Ομαδοποίηση Σημείων (Clustering):</a:t>
            </a:r>
            <a:r>
              <a:rPr lang="en-US" sz="1425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Αλγόριθμος πρόληψης επικάλυψης δεικτών (markers) για μια οργανωμένη διεπαφή.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p23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Εξερεύνηση &amp; Διαδραστική Χαρτογράφηση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23"/>
          <p:cNvSpPr/>
          <p:nvPr/>
        </p:nvSpPr>
        <p:spPr>
          <a:xfrm>
            <a:off x="571500" y="1238250"/>
            <a:ext cx="11049000" cy="38100"/>
          </a:xfrm>
          <a:prstGeom prst="rect">
            <a:avLst/>
          </a:prstGeom>
          <a:solidFill>
            <a:srgbClr val="C28F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06297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07360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84224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73511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3"/>
          <p:cNvPicPr preferRelativeResize="0"/>
          <p:nvPr/>
        </p:nvPicPr>
        <p:blipFill rotWithShape="1">
          <a:blip r:embed="rId7">
            <a:alphaModFix/>
          </a:blip>
          <a:srcRect l="22455" t="4324" r="18794" b="1682"/>
          <a:stretch/>
        </p:blipFill>
        <p:spPr>
          <a:xfrm>
            <a:off x="7005200" y="2007925"/>
            <a:ext cx="4139049" cy="3619500"/>
          </a:xfrm>
          <a:prstGeom prst="rect">
            <a:avLst/>
          </a:prstGeom>
          <a:noFill/>
          <a:ln w="19050" cap="flat" cmpd="sng">
            <a:solidFill>
              <a:srgbClr val="C28F27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94" name="Google Shape;294;p23" title="Στιγμιότυπο οθόνης 2026-06-22 010232.png"/>
          <p:cNvPicPr preferRelativeResize="0"/>
          <p:nvPr/>
        </p:nvPicPr>
        <p:blipFill rotWithShape="1">
          <a:blip r:embed="rId8">
            <a:alphaModFix/>
          </a:blip>
          <a:srcRect l="5261" r="5261"/>
          <a:stretch/>
        </p:blipFill>
        <p:spPr>
          <a:xfrm>
            <a:off x="11144250" y="301886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99250" y="6105450"/>
            <a:ext cx="1913648" cy="64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924698"/>
            <a:ext cx="11049000" cy="647551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4"/>
          <p:cNvSpPr txBox="1"/>
          <p:nvPr/>
        </p:nvSpPr>
        <p:spPr>
          <a:xfrm>
            <a:off x="8761065" y="6077098"/>
            <a:ext cx="2859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Τμήμα Μηχανικών Η/Υ &amp; Πληροφορικής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" name="Google Shape;303;p24"/>
          <p:cNvSpPr txBox="1"/>
          <p:nvPr/>
        </p:nvSpPr>
        <p:spPr>
          <a:xfrm>
            <a:off x="8761065" y="6358979"/>
            <a:ext cx="28593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0" u="none" strike="noStrike" cap="none">
                <a:solidFill>
                  <a:srgbClr val="C28F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Διπλωματική Εργασία - 2026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p24"/>
          <p:cNvSpPr txBox="1"/>
          <p:nvPr/>
        </p:nvSpPr>
        <p:spPr>
          <a:xfrm>
            <a:off x="857250" y="1669950"/>
            <a:ext cx="5000700" cy="14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75" b="1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Προτάσεις</a:t>
            </a:r>
            <a:r>
              <a:rPr lang="en-US" sz="1575" b="1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"</a:t>
            </a:r>
            <a:r>
              <a:rPr lang="en-US" sz="1575" b="1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Γι</a:t>
            </a:r>
            <a:r>
              <a:rPr lang="en-US" sz="1575" b="1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α Σένα":</a:t>
            </a:r>
            <a:r>
              <a:rPr lang="en-US" sz="1575" dirty="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Προσωποποιημένη λίστα δραστηριοτήτων που τροφοδοτείται άμεσα από τον ευρετικό αλγόριθμο βαθμολόγησης.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75" b="1" dirty="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p24"/>
          <p:cNvSpPr txBox="1"/>
          <p:nvPr/>
        </p:nvSpPr>
        <p:spPr>
          <a:xfrm>
            <a:off x="857250" y="3076062"/>
            <a:ext cx="5000700" cy="14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Ενσωμάτωση</a:t>
            </a:r>
            <a:r>
              <a:rPr lang="en-US" sz="1575" b="1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575" b="1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LLaMA</a:t>
            </a:r>
            <a:r>
              <a:rPr lang="en-US" sz="1575" b="1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3.3:</a:t>
            </a:r>
            <a:r>
              <a:rPr lang="en-US" sz="1575" dirty="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575" dirty="0" err="1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Δυν</a:t>
            </a:r>
            <a:r>
              <a:rPr lang="en-US" sz="1575" dirty="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αμική αναπροσαρμογή</a:t>
            </a:r>
            <a:endParaRPr sz="1575" dirty="0">
              <a:solidFill>
                <a:srgbClr val="4A4A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75" dirty="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575" dirty="0" err="1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των</a:t>
            </a:r>
            <a:r>
              <a:rPr lang="en-US" sz="1575" dirty="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π</a:t>
            </a:r>
            <a:r>
              <a:rPr lang="en-US" sz="1575" dirty="0" err="1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ροτάσεων</a:t>
            </a:r>
            <a:r>
              <a:rPr lang="en-US" sz="1575" dirty="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λαμβ</a:t>
            </a:r>
            <a:r>
              <a:rPr lang="en-US" sz="1575" dirty="0" err="1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άνοντ</a:t>
            </a:r>
            <a:r>
              <a:rPr lang="en-US" sz="1575" dirty="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ας υπόψη εξωτερικούς παράγοντες, όπως οι τρέχουσες καιρικές συνθήκες.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75" b="1" dirty="0">
              <a:solidFill>
                <a:srgbClr val="1A1A1A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06" name="Google Shape;306;p24"/>
          <p:cNvSpPr txBox="1"/>
          <p:nvPr/>
        </p:nvSpPr>
        <p:spPr>
          <a:xfrm>
            <a:off x="857250" y="4610800"/>
            <a:ext cx="7785000" cy="10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75" b="1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Ομ</a:t>
            </a:r>
            <a:r>
              <a:rPr lang="en-US" sz="1575" b="1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αλή Πλοήγηση:</a:t>
            </a:r>
            <a:r>
              <a:rPr lang="en-US" sz="1575" dirty="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Εύχρηστη διάταξη (List/Grid Layout) που αναδεικνύει το εικαστικό υλικό και τα συνοδευτικά AI Insights για γρήγορη επιλογή.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75" b="1" dirty="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p24"/>
          <p:cNvSpPr txBox="1"/>
          <p:nvPr/>
        </p:nvSpPr>
        <p:spPr>
          <a:xfrm>
            <a:off x="571500" y="571500"/>
            <a:ext cx="116016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450" b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Εξερεύνηση &amp; Έξυπνες Προτάσεις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50" b="1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" name="Google Shape;308;p24"/>
          <p:cNvSpPr/>
          <p:nvPr/>
        </p:nvSpPr>
        <p:spPr>
          <a:xfrm>
            <a:off x="571500" y="1238250"/>
            <a:ext cx="11049000" cy="38100"/>
          </a:xfrm>
          <a:prstGeom prst="rect">
            <a:avLst/>
          </a:prstGeom>
          <a:solidFill>
            <a:srgbClr val="C28F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9" name="Google Shape;309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81927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11620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610824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4" title="Στιγμιότυπο οθόνης 2026-06-22 010232.png"/>
          <p:cNvPicPr preferRelativeResize="0"/>
          <p:nvPr/>
        </p:nvPicPr>
        <p:blipFill rotWithShape="1">
          <a:blip r:embed="rId6">
            <a:alphaModFix/>
          </a:blip>
          <a:srcRect l="5261" r="5261"/>
          <a:stretch/>
        </p:blipFill>
        <p:spPr>
          <a:xfrm>
            <a:off x="11144250" y="301886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9250" y="6105450"/>
            <a:ext cx="1913648" cy="64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4"/>
          <p:cNvPicPr preferRelativeResize="0"/>
          <p:nvPr/>
        </p:nvPicPr>
        <p:blipFill rotWithShape="1">
          <a:blip r:embed="rId8">
            <a:alphaModFix/>
          </a:blip>
          <a:srcRect l="7033" t="27499" r="8436" b="23596"/>
          <a:stretch/>
        </p:blipFill>
        <p:spPr>
          <a:xfrm>
            <a:off x="5400725" y="2370925"/>
            <a:ext cx="6772373" cy="2081425"/>
          </a:xfrm>
          <a:prstGeom prst="rect">
            <a:avLst/>
          </a:prstGeom>
          <a:noFill/>
          <a:ln w="19050" cap="flat" cmpd="sng">
            <a:solidFill>
              <a:srgbClr val="C28F27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5"/>
          <p:cNvSpPr txBox="1"/>
          <p:nvPr/>
        </p:nvSpPr>
        <p:spPr>
          <a:xfrm>
            <a:off x="857250" y="681037"/>
            <a:ext cx="85710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Διαδραστικός Βοηθός Τεχνητής Νοημοσύνης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" name="Google Shape;321;p25"/>
          <p:cNvSpPr txBox="1"/>
          <p:nvPr/>
        </p:nvSpPr>
        <p:spPr>
          <a:xfrm>
            <a:off x="1190625" y="2197868"/>
            <a:ext cx="53079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2" b="1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Άμεση</a:t>
            </a:r>
            <a:r>
              <a:rPr lang="en-US" sz="1462" b="1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62" b="1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Πρόσ</a:t>
            </a:r>
            <a:r>
              <a:rPr lang="en-US" sz="1462" b="1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βαση (Global Assistant):</a:t>
            </a:r>
            <a:r>
              <a:rPr lang="en-US" sz="1462" i="0" u="none" strike="noStrike" cap="none" dirty="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Ενσωμάτωση ενός αιωρούμενου (floating) παραθύρου συνομιλίας, το οποίο είναι άμεσα προσβάσιμο από κάθε οθόνη της πλατφόρμας.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p25"/>
          <p:cNvSpPr txBox="1"/>
          <p:nvPr/>
        </p:nvSpPr>
        <p:spPr>
          <a:xfrm>
            <a:off x="1190625" y="3262312"/>
            <a:ext cx="53079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2" b="1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Συνομιλί</a:t>
            </a:r>
            <a:r>
              <a:rPr lang="en-US" sz="1462" b="1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α σε Φυσική Γλώσσα:</a:t>
            </a:r>
            <a:r>
              <a:rPr lang="en-US" sz="1462" i="0" u="none" strike="noStrike" cap="none" dirty="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Αξιοποίηση του μοντέλου LLaMA 3.3 για την κατανόηση σύνθετων, φυσικών ερωτημάτων (π.χ. </a:t>
            </a:r>
            <a:r>
              <a:rPr lang="en-US" sz="1462" i="1" u="none" strike="noStrike" cap="none" dirty="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</a:t>
            </a:r>
            <a:r>
              <a:rPr lang="en-US" sz="1462" i="1" u="none" strike="noStrike" cap="none" dirty="0" err="1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είμ</a:t>
            </a:r>
            <a:r>
              <a:rPr lang="en-US" sz="1462" i="1" u="none" strike="noStrike" cap="none" dirty="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αστε 4 άτομα και ψάχνουμε για καφέ στο κέντρο"</a:t>
            </a:r>
            <a:r>
              <a:rPr lang="en-US" sz="1462" i="0" u="none" strike="noStrike" cap="none" dirty="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" name="Google Shape;323;p25"/>
          <p:cNvSpPr txBox="1"/>
          <p:nvPr/>
        </p:nvSpPr>
        <p:spPr>
          <a:xfrm>
            <a:off x="1190625" y="4326731"/>
            <a:ext cx="5307900" cy="12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2" b="1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Δι</a:t>
            </a:r>
            <a:r>
              <a:rPr lang="en-US" sz="1462" b="1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αδραστικά Αποτελέσματα:</a:t>
            </a:r>
            <a:r>
              <a:rPr lang="en-US" sz="1462" i="0" u="none" strike="noStrike" cap="none" dirty="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Ο βοηθός δεν περιορίζεται σε απλό κείμενο, αλλά εντοπίζει τη σωστή πρόθεση και επιστρέφει δυναμικές προτάσεις με άμεσους συνδέσμους ανακατεύθυνσης στις αντίστοιχες δραστηριότητες (Actionable Links).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4" name="Google Shape;324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2250281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3314700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4379118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5" title="Στιγμιότυπο οθόνης 2026-06-22 010232.png"/>
          <p:cNvPicPr preferRelativeResize="0"/>
          <p:nvPr/>
        </p:nvPicPr>
        <p:blipFill rotWithShape="1">
          <a:blip r:embed="rId5">
            <a:alphaModFix/>
          </a:blip>
          <a:srcRect l="5261" r="5261"/>
          <a:stretch/>
        </p:blipFill>
        <p:spPr>
          <a:xfrm>
            <a:off x="11144250" y="301886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9250" y="6105450"/>
            <a:ext cx="1913648" cy="6475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5"/>
          <p:cNvSpPr txBox="1"/>
          <p:nvPr/>
        </p:nvSpPr>
        <p:spPr>
          <a:xfrm>
            <a:off x="8761065" y="6077098"/>
            <a:ext cx="2859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Τμήμα Μηχανικών Η/Υ &amp; Πληροφορικής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" name="Google Shape;330;p25"/>
          <p:cNvSpPr txBox="1"/>
          <p:nvPr/>
        </p:nvSpPr>
        <p:spPr>
          <a:xfrm>
            <a:off x="8761065" y="6358979"/>
            <a:ext cx="28593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0" u="none" strike="noStrike" cap="none">
                <a:solidFill>
                  <a:srgbClr val="C28F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Διπλωματική Εργασία - 2026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1" name="Google Shape;331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88018" y="1631646"/>
            <a:ext cx="2676928" cy="4307700"/>
          </a:xfrm>
          <a:prstGeom prst="rect">
            <a:avLst/>
          </a:prstGeom>
          <a:noFill/>
          <a:ln w="19050" cap="flat" cmpd="sng">
            <a:solidFill>
              <a:srgbClr val="C28F27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924698"/>
            <a:ext cx="11049000" cy="647551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6"/>
          <p:cNvSpPr txBox="1"/>
          <p:nvPr/>
        </p:nvSpPr>
        <p:spPr>
          <a:xfrm>
            <a:off x="8761065" y="6077098"/>
            <a:ext cx="2859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Τμήμα Μηχανικών Η/Υ &amp; Πληροφορικής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9" name="Google Shape;339;p26"/>
          <p:cNvSpPr txBox="1"/>
          <p:nvPr/>
        </p:nvSpPr>
        <p:spPr>
          <a:xfrm>
            <a:off x="8761065" y="6358979"/>
            <a:ext cx="28593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0" u="none" strike="noStrike" cap="none">
                <a:solidFill>
                  <a:srgbClr val="C28F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Διπλωματική Εργασία - 2026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p26"/>
          <p:cNvSpPr txBox="1"/>
          <p:nvPr/>
        </p:nvSpPr>
        <p:spPr>
          <a:xfrm>
            <a:off x="857250" y="1558250"/>
            <a:ext cx="5000700" cy="12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462" b="1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Πλήρης</a:t>
            </a:r>
            <a:r>
              <a:rPr lang="en-US" sz="1462" b="1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62" b="1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Πληροφορί</a:t>
            </a:r>
            <a:r>
              <a:rPr lang="en-US" sz="1462" b="1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α:</a:t>
            </a:r>
            <a:r>
              <a:rPr lang="en-US" sz="1462" dirty="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Ολοκληρωμένη παρουσίαση στοιχείων της τοποθεσίας, όπως αναλυτική περιγραφή, ενδεικτικό κόστος, ωράριο λειτουργίας και στοιχεία επικοινωνίας.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25" b="1" dirty="0">
              <a:solidFill>
                <a:srgbClr val="5E54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26"/>
          <p:cNvSpPr txBox="1"/>
          <p:nvPr/>
        </p:nvSpPr>
        <p:spPr>
          <a:xfrm>
            <a:off x="857250" y="2649387"/>
            <a:ext cx="5000700" cy="12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462" b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Επεξήγηση AI (AI Insights):</a:t>
            </a:r>
            <a:r>
              <a:rPr lang="en-US" sz="1462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Ενημερωτικό κείμενο που αναλύει την τοποθεσία και εξηγεί προσωποποιημένα </a:t>
            </a:r>
            <a:r>
              <a:rPr lang="en-US" sz="1462" i="1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γιατί</a:t>
            </a:r>
            <a:r>
              <a:rPr lang="en-US" sz="1462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ταιριάζει στα ενδιαφέροντα του χρήστη.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25" b="1">
              <a:solidFill>
                <a:srgbClr val="5E54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2" name="Google Shape;342;p26"/>
          <p:cNvSpPr txBox="1"/>
          <p:nvPr/>
        </p:nvSpPr>
        <p:spPr>
          <a:xfrm>
            <a:off x="857250" y="3741487"/>
            <a:ext cx="5000700" cy="12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462" b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Ενσωματωμένος Μίνι Χάρτης:</a:t>
            </a:r>
            <a:r>
              <a:rPr lang="en-US" sz="1462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Διαδραστικός χάρτης (μέσω Leaflet) εντός της σελίδας, που επιτρέπει τον άμεσο γεωγραφικό εντοπισμό της δραστηριότητας χωρίς αλλαγή οθόνης.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25" b="1">
              <a:solidFill>
                <a:srgbClr val="5E54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p26"/>
          <p:cNvSpPr txBox="1"/>
          <p:nvPr/>
        </p:nvSpPr>
        <p:spPr>
          <a:xfrm>
            <a:off x="857250" y="4887515"/>
            <a:ext cx="5000700" cy="12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462" b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 Chat (Ομαδική Συνομιλία):</a:t>
            </a:r>
            <a:r>
              <a:rPr lang="en-US" sz="1462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Δυνατότητα άμεσης επικοινωνίας με την υπόλοιπη παρέα σε πραγματικό χρόνο, για τον σχολιασμό της τοποθεσίας πριν την τελική επιλογή.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25" b="1">
              <a:solidFill>
                <a:srgbClr val="5E54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" name="Google Shape;344;p26"/>
          <p:cNvSpPr txBox="1"/>
          <p:nvPr/>
        </p:nvSpPr>
        <p:spPr>
          <a:xfrm>
            <a:off x="571500" y="565550"/>
            <a:ext cx="11601600" cy="9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450" b="1" dirty="0" err="1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Αν</a:t>
            </a:r>
            <a:r>
              <a:rPr lang="en-US" sz="3450" b="1" dirty="0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αλυτική Προβολή Δραστηριότητας</a:t>
            </a:r>
            <a:endParaRPr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dirty="0">
              <a:solidFill>
                <a:srgbClr val="2B26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5" name="Google Shape;345;p26"/>
          <p:cNvSpPr/>
          <p:nvPr/>
        </p:nvSpPr>
        <p:spPr>
          <a:xfrm>
            <a:off x="571500" y="1238250"/>
            <a:ext cx="11049000" cy="38100"/>
          </a:xfrm>
          <a:prstGeom prst="rect">
            <a:avLst/>
          </a:prstGeom>
          <a:solidFill>
            <a:srgbClr val="C28F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6" name="Google Shape;346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53130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709587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18374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96191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6" title="Στιγμιότυπο οθόνης 2026-06-22 010232.png"/>
          <p:cNvPicPr preferRelativeResize="0"/>
          <p:nvPr/>
        </p:nvPicPr>
        <p:blipFill rotWithShape="1">
          <a:blip r:embed="rId6">
            <a:alphaModFix/>
          </a:blip>
          <a:srcRect l="5261" r="5261"/>
          <a:stretch/>
        </p:blipFill>
        <p:spPr>
          <a:xfrm>
            <a:off x="11144250" y="301886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9250" y="6105450"/>
            <a:ext cx="1913648" cy="64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6"/>
          <p:cNvPicPr preferRelativeResize="0"/>
          <p:nvPr/>
        </p:nvPicPr>
        <p:blipFill rotWithShape="1">
          <a:blip r:embed="rId8">
            <a:alphaModFix/>
          </a:blip>
          <a:srcRect l="1738" t="3071" r="2228" b="3584"/>
          <a:stretch/>
        </p:blipFill>
        <p:spPr>
          <a:xfrm>
            <a:off x="6308500" y="1320837"/>
            <a:ext cx="1793988" cy="1706925"/>
          </a:xfrm>
          <a:prstGeom prst="rect">
            <a:avLst/>
          </a:prstGeom>
          <a:noFill/>
          <a:ln w="19050" cap="flat" cmpd="sng">
            <a:solidFill>
              <a:srgbClr val="C28F27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53" name="Google Shape;353;p26"/>
          <p:cNvPicPr preferRelativeResize="0"/>
          <p:nvPr/>
        </p:nvPicPr>
        <p:blipFill rotWithShape="1">
          <a:blip r:embed="rId9">
            <a:alphaModFix/>
          </a:blip>
          <a:srcRect l="2336" t="4328" r="11159" b="4164"/>
          <a:stretch/>
        </p:blipFill>
        <p:spPr>
          <a:xfrm>
            <a:off x="9682550" y="2034550"/>
            <a:ext cx="2066700" cy="1706925"/>
          </a:xfrm>
          <a:prstGeom prst="rect">
            <a:avLst/>
          </a:prstGeom>
          <a:noFill/>
          <a:ln w="19050" cap="flat" cmpd="sng">
            <a:solidFill>
              <a:srgbClr val="C28F27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54" name="Google Shape;354;p26"/>
          <p:cNvPicPr preferRelativeResize="0"/>
          <p:nvPr/>
        </p:nvPicPr>
        <p:blipFill rotWithShape="1">
          <a:blip r:embed="rId10">
            <a:alphaModFix/>
          </a:blip>
          <a:srcRect l="2387" t="5874" r="4024" b="7621"/>
          <a:stretch/>
        </p:blipFill>
        <p:spPr>
          <a:xfrm>
            <a:off x="6463182" y="4987337"/>
            <a:ext cx="4099018" cy="992700"/>
          </a:xfrm>
          <a:prstGeom prst="rect">
            <a:avLst/>
          </a:prstGeom>
          <a:noFill/>
          <a:ln w="19050" cap="flat" cmpd="sng">
            <a:solidFill>
              <a:srgbClr val="C28F27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55" name="Google Shape;355;p26"/>
          <p:cNvPicPr preferRelativeResize="0"/>
          <p:nvPr/>
        </p:nvPicPr>
        <p:blipFill rotWithShape="1">
          <a:blip r:embed="rId11">
            <a:alphaModFix/>
          </a:blip>
          <a:srcRect t="1932"/>
          <a:stretch/>
        </p:blipFill>
        <p:spPr>
          <a:xfrm>
            <a:off x="7372275" y="3154075"/>
            <a:ext cx="1935018" cy="1706925"/>
          </a:xfrm>
          <a:prstGeom prst="rect">
            <a:avLst/>
          </a:prstGeom>
          <a:noFill/>
          <a:ln w="19050" cap="flat" cmpd="sng">
            <a:solidFill>
              <a:srgbClr val="C28F27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52786"/>
            <a:ext cx="3492549" cy="3457128"/>
          </a:xfrm>
          <a:prstGeom prst="rect">
            <a:avLst/>
          </a:prstGeom>
          <a:noFill/>
          <a:ln w="19050" cap="flat" cmpd="sng">
            <a:solidFill>
              <a:srgbClr val="C28F27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61" name="Google Shape;361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924698"/>
            <a:ext cx="11049000" cy="647551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7"/>
          <p:cNvSpPr txBox="1"/>
          <p:nvPr/>
        </p:nvSpPr>
        <p:spPr>
          <a:xfrm>
            <a:off x="8761065" y="6077098"/>
            <a:ext cx="2859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Τμήμα Μηχανικών Η/Υ &amp; Πληροφορικής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3" name="Google Shape;363;p27"/>
          <p:cNvSpPr txBox="1"/>
          <p:nvPr/>
        </p:nvSpPr>
        <p:spPr>
          <a:xfrm>
            <a:off x="8761065" y="6358979"/>
            <a:ext cx="28593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0" u="none" strike="noStrike" cap="none">
                <a:solidFill>
                  <a:srgbClr val="C28F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Διπλωματική Εργασία - 2026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4" name="Google Shape;364;p27"/>
          <p:cNvSpPr txBox="1"/>
          <p:nvPr/>
        </p:nvSpPr>
        <p:spPr>
          <a:xfrm>
            <a:off x="1422588" y="3081486"/>
            <a:ext cx="1790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Lobby Radar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" name="Google Shape;365;p27"/>
          <p:cNvSpPr txBox="1"/>
          <p:nvPr/>
        </p:nvSpPr>
        <p:spPr>
          <a:xfrm>
            <a:off x="866775" y="3624411"/>
            <a:ext cx="2901900" cy="16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Μηχανισμός που σαρώνει την περιοχή επιτρέποντας στους χρήστες να εντοπίσουν δημόσιες ομάδες (Public Lobbies) που είναι ενεργές στην πόλη τους.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6" name="Google Shape;366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89100" y="239568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7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Κοινωνική Αλληλεπίδραση &amp; Lobbies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8" name="Google Shape;368;p27"/>
          <p:cNvSpPr/>
          <p:nvPr/>
        </p:nvSpPr>
        <p:spPr>
          <a:xfrm>
            <a:off x="571500" y="1238250"/>
            <a:ext cx="11049000" cy="38100"/>
          </a:xfrm>
          <a:prstGeom prst="rect">
            <a:avLst/>
          </a:prstGeom>
          <a:solidFill>
            <a:srgbClr val="C28F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9" name="Google Shape;369;p27" title="Στιγμιότυπο οθόνης 2026-06-22 010232.png"/>
          <p:cNvPicPr preferRelativeResize="0"/>
          <p:nvPr/>
        </p:nvPicPr>
        <p:blipFill rotWithShape="1">
          <a:blip r:embed="rId6">
            <a:alphaModFix/>
          </a:blip>
          <a:srcRect l="5261" r="5261"/>
          <a:stretch/>
        </p:blipFill>
        <p:spPr>
          <a:xfrm>
            <a:off x="11144250" y="301886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9250" y="6105450"/>
            <a:ext cx="1913648" cy="64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89199" y="1428750"/>
            <a:ext cx="5731289" cy="4343548"/>
          </a:xfrm>
          <a:prstGeom prst="rect">
            <a:avLst/>
          </a:prstGeom>
          <a:noFill/>
          <a:ln w="19050" cap="flat" cmpd="sng">
            <a:solidFill>
              <a:srgbClr val="C28F27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499" y="2165536"/>
            <a:ext cx="3492549" cy="3457128"/>
          </a:xfrm>
          <a:prstGeom prst="rect">
            <a:avLst/>
          </a:prstGeom>
          <a:noFill/>
          <a:ln w="19050" cap="flat" cmpd="sng">
            <a:solidFill>
              <a:srgbClr val="C28F27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78" name="Google Shape;378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924698"/>
            <a:ext cx="11049000" cy="647551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8"/>
          <p:cNvSpPr txBox="1"/>
          <p:nvPr/>
        </p:nvSpPr>
        <p:spPr>
          <a:xfrm>
            <a:off x="8761065" y="6077098"/>
            <a:ext cx="2859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Τμήμα Μηχανικών Η/Υ &amp; Πληροφορικής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" name="Google Shape;380;p28"/>
          <p:cNvSpPr txBox="1"/>
          <p:nvPr/>
        </p:nvSpPr>
        <p:spPr>
          <a:xfrm>
            <a:off x="8761065" y="6358979"/>
            <a:ext cx="28593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0" u="none" strike="noStrike" cap="none">
                <a:solidFill>
                  <a:srgbClr val="C28F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Διπλωματική Εργασία - 2026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1" name="Google Shape;381;p28"/>
          <p:cNvSpPr txBox="1"/>
          <p:nvPr/>
        </p:nvSpPr>
        <p:spPr>
          <a:xfrm>
            <a:off x="1166365" y="3317411"/>
            <a:ext cx="2150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 Squads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2" name="Google Shape;382;p28"/>
          <p:cNvSpPr txBox="1"/>
          <p:nvPr/>
        </p:nvSpPr>
        <p:spPr>
          <a:xfrm>
            <a:off x="790624" y="3797086"/>
            <a:ext cx="2901900" cy="16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i="0" u="none" strike="noStrike" cap="none" dirty="0" err="1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Ασφ</a:t>
            </a:r>
            <a:r>
              <a:rPr lang="en-US" sz="1425" i="0" u="none" strike="noStrike" cap="none" dirty="0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αλής πρόσβαση σε κλειστά ψηφιακά δωμάτια αποκλειστικά μέσω ενός μυστικού 6-ψήφιου κωδικού (PIN), διασφαλίζοντας την ιδιωτικότητα.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3" name="Google Shape;383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41550" y="2514211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8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Κοινωνική Αλληλεπίδραση &amp; Lobbies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5" name="Google Shape;385;p28"/>
          <p:cNvSpPr/>
          <p:nvPr/>
        </p:nvSpPr>
        <p:spPr>
          <a:xfrm>
            <a:off x="571500" y="1238250"/>
            <a:ext cx="11049000" cy="38100"/>
          </a:xfrm>
          <a:prstGeom prst="rect">
            <a:avLst/>
          </a:prstGeom>
          <a:solidFill>
            <a:srgbClr val="C28F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6" name="Google Shape;386;p28" title="Στιγμιότυπο οθόνης 2026-06-22 010232.png"/>
          <p:cNvPicPr preferRelativeResize="0"/>
          <p:nvPr/>
        </p:nvPicPr>
        <p:blipFill rotWithShape="1">
          <a:blip r:embed="rId7">
            <a:alphaModFix/>
          </a:blip>
          <a:srcRect l="5261" r="5261"/>
          <a:stretch/>
        </p:blipFill>
        <p:spPr>
          <a:xfrm>
            <a:off x="11144250" y="301886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9250" y="6105450"/>
            <a:ext cx="1913648" cy="64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8"/>
          <p:cNvPicPr preferRelativeResize="0"/>
          <p:nvPr/>
        </p:nvPicPr>
        <p:blipFill rotWithShape="1">
          <a:blip r:embed="rId9">
            <a:alphaModFix/>
          </a:blip>
          <a:srcRect l="1924" t="1981" r="1885" b="3251"/>
          <a:stretch/>
        </p:blipFill>
        <p:spPr>
          <a:xfrm>
            <a:off x="5006350" y="1808475"/>
            <a:ext cx="6019799" cy="411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8"/>
          <p:cNvSpPr txBox="1"/>
          <p:nvPr/>
        </p:nvSpPr>
        <p:spPr>
          <a:xfrm>
            <a:off x="5006350" y="1821175"/>
            <a:ext cx="6019800" cy="4103400"/>
          </a:xfrm>
          <a:prstGeom prst="rect">
            <a:avLst/>
          </a:prstGeom>
          <a:noFill/>
          <a:ln w="19050" cap="flat" cmpd="sng">
            <a:solidFill>
              <a:srgbClr val="C28F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52786"/>
            <a:ext cx="3492549" cy="3457128"/>
          </a:xfrm>
          <a:prstGeom prst="rect">
            <a:avLst/>
          </a:prstGeom>
          <a:noFill/>
          <a:ln w="19050" cap="flat" cmpd="sng">
            <a:solidFill>
              <a:srgbClr val="C28F27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96" name="Google Shape;396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924698"/>
            <a:ext cx="11049000" cy="647551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29"/>
          <p:cNvSpPr txBox="1"/>
          <p:nvPr/>
        </p:nvSpPr>
        <p:spPr>
          <a:xfrm>
            <a:off x="8761065" y="6077098"/>
            <a:ext cx="2859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Τμήμα Μηχανικών Η/Υ &amp; Πληροφορικής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" name="Google Shape;398;p29"/>
          <p:cNvSpPr txBox="1"/>
          <p:nvPr/>
        </p:nvSpPr>
        <p:spPr>
          <a:xfrm>
            <a:off x="8761065" y="6358979"/>
            <a:ext cx="28593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0" u="none" strike="noStrike" cap="none">
                <a:solidFill>
                  <a:srgbClr val="C28F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Διπλωματική Εργασία - 2026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9" name="Google Shape;399;p29"/>
          <p:cNvSpPr txBox="1"/>
          <p:nvPr/>
        </p:nvSpPr>
        <p:spPr>
          <a:xfrm>
            <a:off x="1293488" y="3105761"/>
            <a:ext cx="1790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00" b="1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 Chat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rgbClr val="2B26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0" name="Google Shape;400;p29"/>
          <p:cNvSpPr txBox="1"/>
          <p:nvPr/>
        </p:nvSpPr>
        <p:spPr>
          <a:xfrm>
            <a:off x="866775" y="3624411"/>
            <a:ext cx="2901900" cy="16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425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Ζωντανή συνομιλία και άμεση ένδειξη online status (ποιοι είναι συνδεδεμένοι) σε πραγματικό χρόνο μέσω της τεχνολογίας WebSockets (Socket.IO).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25">
              <a:solidFill>
                <a:srgbClr val="5E54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1" name="Google Shape;401;p29"/>
          <p:cNvSpPr txBox="1"/>
          <p:nvPr/>
        </p:nvSpPr>
        <p:spPr>
          <a:xfrm>
            <a:off x="9214217" y="3081486"/>
            <a:ext cx="1320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2" name="Google Shape;402;p29"/>
          <p:cNvSpPr txBox="1"/>
          <p:nvPr/>
        </p:nvSpPr>
        <p:spPr>
          <a:xfrm>
            <a:off x="8423374" y="3624411"/>
            <a:ext cx="2901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3" name="Google Shape;403;p29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Κοινωνική Αλληλεπίδραση &amp; Lobbies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4" name="Google Shape;404;p29"/>
          <p:cNvSpPr/>
          <p:nvPr/>
        </p:nvSpPr>
        <p:spPr>
          <a:xfrm>
            <a:off x="571500" y="1238250"/>
            <a:ext cx="11049000" cy="38100"/>
          </a:xfrm>
          <a:prstGeom prst="rect">
            <a:avLst/>
          </a:prstGeom>
          <a:solidFill>
            <a:srgbClr val="C28F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5" name="Google Shape;405;p29" title="Στιγμιότυπο οθόνης 2026-06-22 010232.png"/>
          <p:cNvPicPr preferRelativeResize="0"/>
          <p:nvPr/>
        </p:nvPicPr>
        <p:blipFill rotWithShape="1">
          <a:blip r:embed="rId6">
            <a:alphaModFix/>
          </a:blip>
          <a:srcRect l="5261" r="5261"/>
          <a:stretch/>
        </p:blipFill>
        <p:spPr>
          <a:xfrm>
            <a:off x="11144250" y="301886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9250" y="6105450"/>
            <a:ext cx="1913648" cy="64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2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32099" y="2395686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2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161075" y="1705300"/>
            <a:ext cx="7745175" cy="3790455"/>
          </a:xfrm>
          <a:prstGeom prst="rect">
            <a:avLst/>
          </a:prstGeom>
          <a:noFill/>
          <a:ln w="19050" cap="flat" cmpd="sng">
            <a:solidFill>
              <a:srgbClr val="C28F27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2017625"/>
            <a:ext cx="5286375" cy="3346549"/>
          </a:xfrm>
          <a:prstGeom prst="rect">
            <a:avLst/>
          </a:prstGeom>
          <a:noFill/>
          <a:ln w="19050" cap="flat" cmpd="sng">
            <a:solidFill>
              <a:srgbClr val="C28F27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15" name="Google Shape;415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924698"/>
            <a:ext cx="11049000" cy="647551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0"/>
          <p:cNvSpPr txBox="1"/>
          <p:nvPr/>
        </p:nvSpPr>
        <p:spPr>
          <a:xfrm>
            <a:off x="8761065" y="6077098"/>
            <a:ext cx="2859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Τμήμα Μηχανικών Η/Υ &amp; Πληροφορικής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7" name="Google Shape;417;p30"/>
          <p:cNvSpPr txBox="1"/>
          <p:nvPr/>
        </p:nvSpPr>
        <p:spPr>
          <a:xfrm>
            <a:off x="8761065" y="6358979"/>
            <a:ext cx="28593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0" u="none" strike="noStrike" cap="none">
                <a:solidFill>
                  <a:srgbClr val="C28F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Διπλωματική Εργασία - 2026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8" name="Google Shape;418;p30"/>
          <p:cNvSpPr txBox="1"/>
          <p:nvPr/>
        </p:nvSpPr>
        <p:spPr>
          <a:xfrm>
            <a:off x="736716" y="2422475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12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Προσωπικά Στατιστικά (Recharts)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9" name="Google Shape;419;p30"/>
          <p:cNvSpPr txBox="1"/>
          <p:nvPr/>
        </p:nvSpPr>
        <p:spPr>
          <a:xfrm>
            <a:off x="849375" y="3055050"/>
            <a:ext cx="4505400" cy="12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Το προφίλ παρέχει πλήρες ιστορικό αγαπημένων δραστηριοτήτων. Αξιοποιείται η βιβλιοθήκη </a:t>
            </a:r>
            <a:r>
              <a:rPr lang="en-US" sz="1425" b="1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Recharts</a:t>
            </a:r>
            <a:r>
              <a:rPr lang="en-US" sz="1425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για την οπτικοποίηση των δεδομένων (π.χ. κατανομή ανά κατηγορία, αγαπημένο vibe).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0" name="Google Shape;420;p30"/>
          <p:cNvSpPr txBox="1"/>
          <p:nvPr/>
        </p:nvSpPr>
        <p:spPr>
          <a:xfrm>
            <a:off x="849375" y="4326758"/>
            <a:ext cx="45054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Εδώ ενσωματώνεται ο </a:t>
            </a:r>
            <a:r>
              <a:rPr lang="en-US" sz="1425" b="1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Ευρετικός Αλγόριθμος</a:t>
            </a:r>
            <a:r>
              <a:rPr lang="en-US" sz="1425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που βαθμολογεί τοπικά τις προτάσεις "Για Σένα".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1" name="Google Shape;421;p30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Προφίλ Χρήστη &amp; Εξατομίκευση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2" name="Google Shape;422;p30"/>
          <p:cNvSpPr/>
          <p:nvPr/>
        </p:nvSpPr>
        <p:spPr>
          <a:xfrm>
            <a:off x="571500" y="1238250"/>
            <a:ext cx="11049000" cy="38100"/>
          </a:xfrm>
          <a:prstGeom prst="rect">
            <a:avLst/>
          </a:prstGeom>
          <a:solidFill>
            <a:srgbClr val="C28F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3" name="Google Shape;423;p30" title="Στιγμιότυπο οθόνης 2026-06-22 010232.png"/>
          <p:cNvPicPr preferRelativeResize="0"/>
          <p:nvPr/>
        </p:nvPicPr>
        <p:blipFill rotWithShape="1">
          <a:blip r:embed="rId6">
            <a:alphaModFix/>
          </a:blip>
          <a:srcRect l="5261" r="5261"/>
          <a:stretch/>
        </p:blipFill>
        <p:spPr>
          <a:xfrm>
            <a:off x="11144250" y="301886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9250" y="6105450"/>
            <a:ext cx="1913648" cy="64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0"/>
          <p:cNvPicPr preferRelativeResize="0"/>
          <p:nvPr/>
        </p:nvPicPr>
        <p:blipFill rotWithShape="1">
          <a:blip r:embed="rId8">
            <a:alphaModFix/>
          </a:blip>
          <a:srcRect l="1643"/>
          <a:stretch/>
        </p:blipFill>
        <p:spPr>
          <a:xfrm>
            <a:off x="5887275" y="2139050"/>
            <a:ext cx="6018976" cy="3075374"/>
          </a:xfrm>
          <a:prstGeom prst="rect">
            <a:avLst/>
          </a:prstGeom>
          <a:noFill/>
          <a:ln w="19050" cap="flat" cmpd="sng">
            <a:solidFill>
              <a:srgbClr val="C28F27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924698"/>
            <a:ext cx="11049000" cy="647551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31"/>
          <p:cNvSpPr txBox="1"/>
          <p:nvPr/>
        </p:nvSpPr>
        <p:spPr>
          <a:xfrm>
            <a:off x="8761065" y="6077098"/>
            <a:ext cx="2859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Τμήμα Μηχανικών Η/Υ &amp; Πληροφορικής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3" name="Google Shape;433;p31"/>
          <p:cNvSpPr txBox="1"/>
          <p:nvPr/>
        </p:nvSpPr>
        <p:spPr>
          <a:xfrm>
            <a:off x="8761065" y="6358979"/>
            <a:ext cx="28593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0" u="none" strike="noStrike" cap="none">
                <a:solidFill>
                  <a:srgbClr val="C28F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Διπλωματική Εργασία - 2026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" name="Google Shape;434;p31"/>
          <p:cNvSpPr txBox="1"/>
          <p:nvPr/>
        </p:nvSpPr>
        <p:spPr>
          <a:xfrm>
            <a:off x="857250" y="1669950"/>
            <a:ext cx="5000700" cy="14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75" b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Λίστα Αγαπημένων:</a:t>
            </a:r>
            <a:r>
              <a:rPr lang="en-US" sz="1575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Δυνατότητα αποθήκευσης επιλεγμένων δραστηριοτήτων, επιτρέποντας την εύκολη και γρήγορη μελλοντική πρόσβαση.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75" b="1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5" name="Google Shape;435;p31"/>
          <p:cNvSpPr txBox="1"/>
          <p:nvPr/>
        </p:nvSpPr>
        <p:spPr>
          <a:xfrm>
            <a:off x="857250" y="2909037"/>
            <a:ext cx="5000700" cy="17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75" b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Κοινοποίηση (Share):</a:t>
            </a:r>
            <a:r>
              <a:rPr lang="en-US" sz="1575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Υποστήριξη άμεσου διαμοιρασμού τοποθεσιών με φίλους εντός και εκτός εφαρμογής, μέσω του Web Clipboard API.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575" b="1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75" b="1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6" name="Google Shape;436;p31"/>
          <p:cNvSpPr txBox="1"/>
          <p:nvPr/>
        </p:nvSpPr>
        <p:spPr>
          <a:xfrm>
            <a:off x="857250" y="4165699"/>
            <a:ext cx="5000700" cy="14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75" b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Ιστορικό Προβολής:</a:t>
            </a:r>
            <a:r>
              <a:rPr lang="en-US" sz="1575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Αναλυτική καταγραφή των προηγούμενων προβολών, διευκολύνοντας την αναζήτηση παλαιότερων προτάσεων και εξόδων.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75" b="1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7" name="Google Shape;437;p31"/>
          <p:cNvSpPr txBox="1"/>
          <p:nvPr/>
        </p:nvSpPr>
        <p:spPr>
          <a:xfrm>
            <a:off x="571500" y="571500"/>
            <a:ext cx="116016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450" b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Αγαπημένα, Κοινοποίηση &amp; Ιστορικό Προβολής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50" b="1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8" name="Google Shape;438;p31"/>
          <p:cNvSpPr/>
          <p:nvPr/>
        </p:nvSpPr>
        <p:spPr>
          <a:xfrm>
            <a:off x="571500" y="1238250"/>
            <a:ext cx="11049000" cy="38100"/>
          </a:xfrm>
          <a:prstGeom prst="rect">
            <a:avLst/>
          </a:prstGeom>
          <a:solidFill>
            <a:srgbClr val="C28F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9" name="Google Shape;439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81927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02012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292024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31" title="Στιγμιότυπο οθόνης 2026-06-22 010232.png"/>
          <p:cNvPicPr preferRelativeResize="0"/>
          <p:nvPr/>
        </p:nvPicPr>
        <p:blipFill rotWithShape="1">
          <a:blip r:embed="rId6">
            <a:alphaModFix/>
          </a:blip>
          <a:srcRect l="5261" r="5261"/>
          <a:stretch/>
        </p:blipFill>
        <p:spPr>
          <a:xfrm>
            <a:off x="11144250" y="301886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9250" y="6105450"/>
            <a:ext cx="1913648" cy="64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31"/>
          <p:cNvPicPr preferRelativeResize="0"/>
          <p:nvPr/>
        </p:nvPicPr>
        <p:blipFill rotWithShape="1">
          <a:blip r:embed="rId8">
            <a:alphaModFix/>
          </a:blip>
          <a:srcRect l="2611" t="30643" r="3139" b="37415"/>
          <a:stretch/>
        </p:blipFill>
        <p:spPr>
          <a:xfrm>
            <a:off x="5852800" y="4541601"/>
            <a:ext cx="5767701" cy="1309449"/>
          </a:xfrm>
          <a:prstGeom prst="rect">
            <a:avLst/>
          </a:prstGeom>
          <a:noFill/>
          <a:ln w="19050" cap="flat" cmpd="sng">
            <a:solidFill>
              <a:srgbClr val="C28F27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45" name="Google Shape;445;p31"/>
          <p:cNvPicPr preferRelativeResize="0"/>
          <p:nvPr/>
        </p:nvPicPr>
        <p:blipFill rotWithShape="1">
          <a:blip r:embed="rId9">
            <a:alphaModFix/>
          </a:blip>
          <a:srcRect t="22330"/>
          <a:stretch/>
        </p:blipFill>
        <p:spPr>
          <a:xfrm>
            <a:off x="7243725" y="3311623"/>
            <a:ext cx="3248025" cy="762000"/>
          </a:xfrm>
          <a:prstGeom prst="rect">
            <a:avLst/>
          </a:prstGeom>
          <a:noFill/>
          <a:ln w="19050" cap="flat" cmpd="sng">
            <a:solidFill>
              <a:srgbClr val="C28F27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46" name="Google Shape;446;p31"/>
          <p:cNvPicPr preferRelativeResize="0"/>
          <p:nvPr/>
        </p:nvPicPr>
        <p:blipFill rotWithShape="1">
          <a:blip r:embed="rId10">
            <a:alphaModFix/>
          </a:blip>
          <a:srcRect l="1508" r="1855" b="72467"/>
          <a:stretch/>
        </p:blipFill>
        <p:spPr>
          <a:xfrm>
            <a:off x="6048450" y="1742825"/>
            <a:ext cx="5767701" cy="1100835"/>
          </a:xfrm>
          <a:prstGeom prst="rect">
            <a:avLst/>
          </a:prstGeom>
          <a:noFill/>
          <a:ln w="19050" cap="flat" cmpd="sng">
            <a:solidFill>
              <a:srgbClr val="C28F27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108150"/>
            <a:ext cx="5286375" cy="3346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924698"/>
            <a:ext cx="11049000" cy="647551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32"/>
          <p:cNvSpPr txBox="1"/>
          <p:nvPr/>
        </p:nvSpPr>
        <p:spPr>
          <a:xfrm>
            <a:off x="8761065" y="6077098"/>
            <a:ext cx="2859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Τμήμα Μηχανικών Η/Υ &amp; Πληροφορικής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4" name="Google Shape;454;p32"/>
          <p:cNvSpPr txBox="1"/>
          <p:nvPr/>
        </p:nvSpPr>
        <p:spPr>
          <a:xfrm>
            <a:off x="8761065" y="6358979"/>
            <a:ext cx="28593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0" u="none" strike="noStrike" cap="none">
                <a:solidFill>
                  <a:srgbClr val="C28F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Διπλωματική Εργασία - 2026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5" name="Google Shape;455;p32"/>
          <p:cNvSpPr txBox="1"/>
          <p:nvPr/>
        </p:nvSpPr>
        <p:spPr>
          <a:xfrm>
            <a:off x="849391" y="2498675"/>
            <a:ext cx="4730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00" b="1">
                <a:solidFill>
                  <a:srgbClr val="D12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Προηγμένο UX &amp; Ζάρι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rgbClr val="D12A3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6" name="Google Shape;456;p32"/>
          <p:cNvSpPr txBox="1"/>
          <p:nvPr/>
        </p:nvSpPr>
        <p:spPr>
          <a:xfrm>
            <a:off x="962025" y="3041600"/>
            <a:ext cx="4505400" cy="12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425" b="1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Time-based Theming:</a:t>
            </a:r>
            <a:r>
              <a:rPr lang="en-US" sz="1425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Δυναμική προσαρμογή του θέματος (Πρωινό, Απογευματινό, Σκοτεινό/Dark Mode) βάσει της τοπικής ώρας της συσκευής.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25">
              <a:solidFill>
                <a:srgbClr val="5E54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7" name="Google Shape;457;p32"/>
          <p:cNvSpPr txBox="1"/>
          <p:nvPr/>
        </p:nvSpPr>
        <p:spPr>
          <a:xfrm>
            <a:off x="962025" y="4342358"/>
            <a:ext cx="4505400" cy="9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425" b="1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Surprise Dice:</a:t>
            </a:r>
            <a:r>
              <a:rPr lang="en-US" sz="1425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Διαδραστικός μηχανισμός (τρισδιάστατο CSS animation) που επιλέγει εντελώς τυχαία μια δραστηριότητα.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25">
              <a:solidFill>
                <a:srgbClr val="5E54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8" name="Google Shape;458;p32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Προφίλ Χρήστη &amp; Εξατομίκευση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9" name="Google Shape;459;p32"/>
          <p:cNvSpPr/>
          <p:nvPr/>
        </p:nvSpPr>
        <p:spPr>
          <a:xfrm>
            <a:off x="571500" y="1238250"/>
            <a:ext cx="11049000" cy="38100"/>
          </a:xfrm>
          <a:prstGeom prst="rect">
            <a:avLst/>
          </a:prstGeom>
          <a:solidFill>
            <a:srgbClr val="C28F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0" name="Google Shape;460;p32" title="Στιγμιότυπο οθόνης 2026-06-22 010232.png"/>
          <p:cNvPicPr preferRelativeResize="0"/>
          <p:nvPr/>
        </p:nvPicPr>
        <p:blipFill rotWithShape="1">
          <a:blip r:embed="rId5">
            <a:alphaModFix/>
          </a:blip>
          <a:srcRect l="5261" r="5261"/>
          <a:stretch/>
        </p:blipFill>
        <p:spPr>
          <a:xfrm>
            <a:off x="11144250" y="301886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9250" y="6105450"/>
            <a:ext cx="1913648" cy="64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20202" y="2788686"/>
            <a:ext cx="2859300" cy="1532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897013" y="4258060"/>
            <a:ext cx="923925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32"/>
          <p:cNvPicPr preferRelativeResize="0"/>
          <p:nvPr/>
        </p:nvPicPr>
        <p:blipFill rotWithShape="1">
          <a:blip r:embed="rId9">
            <a:alphaModFix/>
          </a:blip>
          <a:srcRect l="13582" r="27159" b="25772"/>
          <a:stretch/>
        </p:blipFill>
        <p:spPr>
          <a:xfrm>
            <a:off x="9897013" y="1851575"/>
            <a:ext cx="762000" cy="57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32"/>
          <p:cNvPicPr preferRelativeResize="0"/>
          <p:nvPr/>
        </p:nvPicPr>
        <p:blipFill rotWithShape="1">
          <a:blip r:embed="rId10">
            <a:alphaModFix/>
          </a:blip>
          <a:srcRect l="13373" t="17270" r="26578" b="9303"/>
          <a:stretch/>
        </p:blipFill>
        <p:spPr>
          <a:xfrm>
            <a:off x="10171638" y="3006550"/>
            <a:ext cx="923925" cy="67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25116"/>
            <a:ext cx="11049000" cy="24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8525" y="2420391"/>
            <a:ext cx="78867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8525" y="3087141"/>
            <a:ext cx="78867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8525" y="3753891"/>
            <a:ext cx="78867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3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8525" y="2420391"/>
            <a:ext cx="749230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3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38525" y="3087141"/>
            <a:ext cx="552063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3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8525" y="3753891"/>
            <a:ext cx="354895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3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1500" y="1657350"/>
            <a:ext cx="11049000" cy="424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3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71500" y="5924698"/>
            <a:ext cx="11049000" cy="647551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3"/>
          <p:cNvSpPr txBox="1"/>
          <p:nvPr/>
        </p:nvSpPr>
        <p:spPr>
          <a:xfrm>
            <a:off x="8761065" y="6077098"/>
            <a:ext cx="2859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Τμήμα Μηχανικών Η/Υ &amp; Πληροφορικής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1" name="Google Shape;481;p33"/>
          <p:cNvSpPr txBox="1"/>
          <p:nvPr/>
        </p:nvSpPr>
        <p:spPr>
          <a:xfrm>
            <a:off x="8761065" y="6358979"/>
            <a:ext cx="28593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0" u="none" strike="noStrike" cap="none">
                <a:solidFill>
                  <a:srgbClr val="C28F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Διπλωματική Εργασία - 2026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2" name="Google Shape;482;p33"/>
          <p:cNvSpPr txBox="1"/>
          <p:nvPr/>
        </p:nvSpPr>
        <p:spPr>
          <a:xfrm>
            <a:off x="866775" y="2513707"/>
            <a:ext cx="23814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5" b="1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LLaMA 3.3 (Groq API)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3" name="Google Shape;483;p33"/>
          <p:cNvSpPr txBox="1"/>
          <p:nvPr/>
        </p:nvSpPr>
        <p:spPr>
          <a:xfrm>
            <a:off x="866775" y="3180457"/>
            <a:ext cx="23814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5" b="1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Google Gemini API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4" name="Google Shape;484;p33"/>
          <p:cNvSpPr txBox="1"/>
          <p:nvPr/>
        </p:nvSpPr>
        <p:spPr>
          <a:xfrm>
            <a:off x="866775" y="3847207"/>
            <a:ext cx="23814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5" b="1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OpenAI GPT-4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5" name="Google Shape;485;p33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Αξιολόγηση Απόδοσης Μοντέλων AI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6" name="Google Shape;486;p33"/>
          <p:cNvSpPr/>
          <p:nvPr/>
        </p:nvSpPr>
        <p:spPr>
          <a:xfrm>
            <a:off x="571500" y="1238250"/>
            <a:ext cx="11049000" cy="38100"/>
          </a:xfrm>
          <a:prstGeom prst="rect">
            <a:avLst/>
          </a:prstGeom>
          <a:solidFill>
            <a:srgbClr val="C28F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7" name="Google Shape;487;p33" title="Στιγμιότυπο οθόνης 2026-06-22 010232.png"/>
          <p:cNvPicPr preferRelativeResize="0"/>
          <p:nvPr/>
        </p:nvPicPr>
        <p:blipFill rotWithShape="1">
          <a:blip r:embed="rId12">
            <a:alphaModFix/>
          </a:blip>
          <a:srcRect l="5261" r="5261"/>
          <a:stretch/>
        </p:blipFill>
        <p:spPr>
          <a:xfrm>
            <a:off x="11144250" y="301886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3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99250" y="6105450"/>
            <a:ext cx="1913648" cy="64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924698"/>
            <a:ext cx="11049000" cy="647551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34"/>
          <p:cNvSpPr/>
          <p:nvPr/>
        </p:nvSpPr>
        <p:spPr>
          <a:xfrm>
            <a:off x="5524500" y="1350912"/>
            <a:ext cx="1143000" cy="57150"/>
          </a:xfrm>
          <a:prstGeom prst="rect">
            <a:avLst/>
          </a:prstGeom>
          <a:solidFill>
            <a:srgbClr val="C28F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34"/>
          <p:cNvSpPr txBox="1"/>
          <p:nvPr/>
        </p:nvSpPr>
        <p:spPr>
          <a:xfrm>
            <a:off x="2645881" y="1693812"/>
            <a:ext cx="69003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Μελλοντικές Επεκτάσεις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7" name="Google Shape;497;p34"/>
          <p:cNvSpPr txBox="1"/>
          <p:nvPr/>
        </p:nvSpPr>
        <p:spPr>
          <a:xfrm>
            <a:off x="2286000" y="2932062"/>
            <a:ext cx="7620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Native Mobile App:</a:t>
            </a:r>
            <a:r>
              <a:rPr lang="en-US" sz="2000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Μετάβαση σε iOS/Android με React Native για Push Notifications &amp; Native GPS.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8" name="Google Shape;498;p34"/>
          <p:cNvSpPr txBox="1"/>
          <p:nvPr/>
        </p:nvSpPr>
        <p:spPr>
          <a:xfrm>
            <a:off x="2286000" y="3806279"/>
            <a:ext cx="7620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Διασύνδεση APIs (Google Maps &amp; Delivery):</a:t>
            </a:r>
            <a:r>
              <a:rPr lang="en-US" sz="2000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Απευθείας κρατήσεις και παραγγελίες μέσω της πλατφόρμας μετά το Match.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9" name="Google Shape;499;p34"/>
          <p:cNvSpPr txBox="1"/>
          <p:nvPr/>
        </p:nvSpPr>
        <p:spPr>
          <a:xfrm>
            <a:off x="2286000" y="4680495"/>
            <a:ext cx="7620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Learning:</a:t>
            </a:r>
            <a:r>
              <a:rPr lang="en-US" sz="2000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Προληπτική πρόταση δραστηριοτήτων βάσει ιστορικού (swipes) προτού καν ζητηθούν από τον χρήστη.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0" name="Google Shape;500;p34"/>
          <p:cNvSpPr txBox="1"/>
          <p:nvPr/>
        </p:nvSpPr>
        <p:spPr>
          <a:xfrm>
            <a:off x="8761065" y="6077098"/>
            <a:ext cx="2859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Τμήμα Μηχανικών Η/Υ &amp; Πληροφορικής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1" name="Google Shape;501;p34"/>
          <p:cNvSpPr txBox="1"/>
          <p:nvPr/>
        </p:nvSpPr>
        <p:spPr>
          <a:xfrm>
            <a:off x="8761065" y="6358979"/>
            <a:ext cx="28593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0" u="none" strike="noStrike" cap="none">
                <a:solidFill>
                  <a:srgbClr val="C28F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Διπλωματική Εργασία - 2026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02" name="Google Shape;502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9250" y="6105450"/>
            <a:ext cx="1913648" cy="64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34" title="Στιγμιότυπο οθόνης 2026-06-22 010232.png"/>
          <p:cNvPicPr preferRelativeResize="0"/>
          <p:nvPr/>
        </p:nvPicPr>
        <p:blipFill rotWithShape="1">
          <a:blip r:embed="rId6">
            <a:alphaModFix/>
          </a:blip>
          <a:srcRect l="5261" r="5261"/>
          <a:stretch/>
        </p:blipFill>
        <p:spPr>
          <a:xfrm>
            <a:off x="11144250" y="301886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924698"/>
            <a:ext cx="11049000" cy="647551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35"/>
          <p:cNvSpPr txBox="1"/>
          <p:nvPr/>
        </p:nvSpPr>
        <p:spPr>
          <a:xfrm>
            <a:off x="295275" y="2049809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Σας ευχαριστώ!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1" name="Google Shape;511;p35"/>
          <p:cNvSpPr txBox="1"/>
          <p:nvPr/>
        </p:nvSpPr>
        <p:spPr>
          <a:xfrm>
            <a:off x="571500" y="3383309"/>
            <a:ext cx="110490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i="0" u="none" strike="noStrike" cap="none">
                <a:solidFill>
                  <a:srgbClr val="5E54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Ερωτήσεις;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2" name="Google Shape;512;p35"/>
          <p:cNvSpPr txBox="1"/>
          <p:nvPr/>
        </p:nvSpPr>
        <p:spPr>
          <a:xfrm>
            <a:off x="571500" y="4160490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12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Pyxis | Διπλωματική Εργασία 2026 | Πανεπιστήμιο Πατρών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3" name="Google Shape;513;p35"/>
          <p:cNvSpPr txBox="1"/>
          <p:nvPr/>
        </p:nvSpPr>
        <p:spPr>
          <a:xfrm>
            <a:off x="8761065" y="6077098"/>
            <a:ext cx="2859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B2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Τμήμα Μηχανικών Η/Υ &amp; Πληροφορικής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4" name="Google Shape;514;p35"/>
          <p:cNvSpPr txBox="1"/>
          <p:nvPr/>
        </p:nvSpPr>
        <p:spPr>
          <a:xfrm>
            <a:off x="8761065" y="6358979"/>
            <a:ext cx="28593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0" u="none" strike="noStrike" cap="none">
                <a:solidFill>
                  <a:srgbClr val="C28F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Διπλωματική Εργασία - 2026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15" name="Google Shape;515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9250" y="6105450"/>
            <a:ext cx="1913648" cy="64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35" title="Στιγμιότυπο οθόνης 2026-06-22 010232.png"/>
          <p:cNvPicPr preferRelativeResize="0"/>
          <p:nvPr/>
        </p:nvPicPr>
        <p:blipFill rotWithShape="1">
          <a:blip r:embed="rId6">
            <a:alphaModFix/>
          </a:blip>
          <a:srcRect l="5261" r="5261"/>
          <a:stretch/>
        </p:blipFill>
        <p:spPr>
          <a:xfrm>
            <a:off x="11144250" y="301886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1604</Words>
  <Application>Microsoft Office PowerPoint</Application>
  <PresentationFormat>Ευρεία οθόνη</PresentationFormat>
  <Paragraphs>151</Paragraphs>
  <Slides>23</Slides>
  <Notes>23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7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23</vt:i4>
      </vt:variant>
    </vt:vector>
  </HeadingPairs>
  <TitlesOfParts>
    <vt:vector size="31" baseType="lpstr">
      <vt:lpstr>Lora</vt:lpstr>
      <vt:lpstr>Arial</vt:lpstr>
      <vt:lpstr>Poppins</vt:lpstr>
      <vt:lpstr>Lato</vt:lpstr>
      <vt:lpstr>Calibri</vt:lpstr>
      <vt:lpstr>Times New Roman</vt:lpstr>
      <vt:lpstr>Playfair Display</vt:lpstr>
      <vt:lpstr>Office Theme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ΠΟΥΠΟΥΖΑ ΒΑΣΙΛΙΚΗ</cp:lastModifiedBy>
  <cp:revision>4</cp:revision>
  <dcterms:modified xsi:type="dcterms:W3CDTF">2026-07-07T02:03:33Z</dcterms:modified>
</cp:coreProperties>
</file>